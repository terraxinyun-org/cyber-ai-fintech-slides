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Intro to Cybersecurity</a:t>
            </a:r>
            <a:br/>
            <a:r>
              <a:t>&amp; AI for FinTech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Calibri"/>
              </a:defRPr>
            </a:pPr>
            <a:r>
              <a:t>OpenCode Edition  | 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0"/>
                </a:solidFill>
                <a:latin typeface="Calibri"/>
              </a:defRPr>
            </a:pPr>
            <a:r>
              <a:t>2.5 Hours  •  5 Modules  •  AI-Guided  •  Singapore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Module 01 — Threat Landscape</a:t>
            </a:r>
            <a:r>
              <a:rPr sz="1600">
                <a:solidFill>
                  <a:srgbClr val="808090"/>
                </a:solidFill>
                <a:latin typeface="Calibri"/>
              </a:rPr>
              <a:t>  (20 min)  CIA triad, common attacks, AI, SG regulations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Module 02 — Scan, Discover &amp; Exploit</a:t>
            </a:r>
            <a:r>
              <a:rPr sz="1600">
                <a:solidFill>
                  <a:srgbClr val="808090"/>
                </a:solidFill>
                <a:latin typeface="Calibri"/>
              </a:rPr>
              <a:t>  (45 min)  Hands-on vulnerability discovery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Module 03 — Incident Response</a:t>
            </a:r>
            <a:r>
              <a:rPr sz="1600">
                <a:solidFill>
                  <a:srgbClr val="808090"/>
                </a:solidFill>
                <a:latin typeface="Calibri"/>
              </a:rPr>
              <a:t>  (30 min)  SIEM investigation, brute force analysis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Module 04 — Governance &amp; Compliance</a:t>
            </a:r>
            <a:r>
              <a:rPr sz="1600">
                <a:solidFill>
                  <a:srgbClr val="808090"/>
                </a:solidFill>
                <a:latin typeface="Calibri"/>
              </a:rPr>
              <a:t>  (25 min)  MAS TRM, stakeholder interview, gap analysis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Module 05 — Wrap-Up</a:t>
            </a:r>
            <a:r>
              <a:rPr sz="1600">
                <a:solidFill>
                  <a:srgbClr val="808090"/>
                </a:solidFill>
                <a:latin typeface="Calibri"/>
              </a:rPr>
              <a:t>  (20 min)  AI limitations, career paths,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486400"/>
            <a:ext cx="5080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2320" y="5486400"/>
            <a:ext cx="10647680" cy="6400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Theory slides here  →  Technical hands-on exercises in the lab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Your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You are a security consultant hired to assess VoltPay Digital,</a:t>
            </a:r>
            <a:br/>
            <a:r>
              <a:t>a Singapore-based FinTech payment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52400"/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85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7744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52400"/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SGD 180M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Monthly Volume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52400"/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2,400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Merchants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377440"/>
            <a:ext cx="2468880" cy="11887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52400"/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Q2 2026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MAS 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VoltPay must pass a MAS inspection and earn CSA Cyber Trust Mark certification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to secure a DBS partnership worth SGD 5–8M/year.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B0B0C0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People: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08090"/>
                </a:solidFill>
                <a:latin typeface="Calibri"/>
              </a:defRPr>
            </a:pPr>
            <a:r>
              <a:t>  CEO: Amanda Lim  |  CTO: Marcus Chen  |  IT Manager: Kevin Tan  |  CISO: Jason Toh (new)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66F1"/>
                </a:solidFill>
                <a:latin typeface="Calibri"/>
              </a:defRPr>
            </a:pPr>
            <a: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Calibri"/>
              </a:defRPr>
            </a:pPr>
            <a:r>
              <a:t>20 minutes  • 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The CIA Triad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The three pillars of information security: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Confidentiality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Only authorized people can access data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VoltPay: </a:t>
            </a:r>
            <a:r>
              <a:rPr sz="1300">
                <a:solidFill>
                  <a:srgbClr val="B0B0C0"/>
                </a:solidFill>
                <a:latin typeface="Calibri"/>
              </a:rPr>
              <a:t>Merchant transaction data,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customer PII, and API keys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must stay private.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Example: </a:t>
            </a:r>
            <a:r>
              <a:rPr sz="1300">
                <a:solidFill>
                  <a:srgbClr val="B0B0C0"/>
                </a:solidFill>
                <a:latin typeface="Calibri"/>
              </a:rPr>
              <a:t>IDOR vulnerability lets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anyone access any transaction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Integrity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Data hasn't been tampered with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VoltPay: </a:t>
            </a:r>
            <a:r>
              <a:rPr sz="1300">
                <a:solidFill>
                  <a:srgbClr val="B0B0C0"/>
                </a:solidFill>
                <a:latin typeface="Calibri"/>
              </a:rPr>
              <a:t>Payment amounts, merchant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records, and audit logs must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be accurate and unaltered.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Example: </a:t>
            </a:r>
            <a:r>
              <a:rPr sz="1300">
                <a:solidFill>
                  <a:srgbClr val="B0B0C0"/>
                </a:solidFill>
                <a:latin typeface="Calibri"/>
              </a:rPr>
              <a:t>SQL injection could modify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transaction amounts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Availability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Systems work when needed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VoltPay: </a:t>
            </a:r>
            <a:r>
              <a:rPr sz="1300">
                <a:solidFill>
                  <a:srgbClr val="B0B0C0"/>
                </a:solidFill>
                <a:latin typeface="Calibri"/>
              </a:rPr>
              <a:t>Payment processing must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handle SGD 180M/month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without downtime.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Example: </a:t>
            </a:r>
            <a:r>
              <a:rPr sz="1300">
                <a:solidFill>
                  <a:srgbClr val="B0B0C0"/>
                </a:solidFill>
                <a:latin typeface="Calibri"/>
              </a:rPr>
              <a:t>DDoS attack takes payment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gateway offline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508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2320" y="5212080"/>
            <a:ext cx="10647680" cy="7315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Every security decision maps back to CIA. Ask: "Which pillar does this threat affect?"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4 Common Cyber Attacks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44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Phishing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Fake emails/messages trick users into revealing credentials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91% of cyberattacks start with phishing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VoltPay risk: </a:t>
            </a:r>
            <a:r>
              <a:rPr sz="1300">
                <a:solidFill>
                  <a:srgbClr val="B0B0C0"/>
                </a:solidFill>
                <a:latin typeface="Calibri"/>
              </a:rPr>
              <a:t>CFO gets fake 'urgent wire transfer' from 'CEO'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55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Ransomware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Malware encrypts all files, demands crypto payment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Average ransom: USD 1.5M (2025)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VoltPay risk: </a:t>
            </a:r>
            <a:r>
              <a:rPr sz="1300">
                <a:solidFill>
                  <a:srgbClr val="B0B0C0"/>
                </a:solidFill>
                <a:latin typeface="Calibri"/>
              </a:rPr>
              <a:t>Payment DB encrypted → 2,400 merchants 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DDoS (Distributed Denial of Service)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Overwhelm servers so legitimate users can't connect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Attacks on financial services up 154% in 2025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VoltPay risk: </a:t>
            </a:r>
            <a:r>
              <a:rPr sz="1300">
                <a:solidFill>
                  <a:srgbClr val="B0B0C0"/>
                </a:solidFill>
                <a:latin typeface="Calibri"/>
              </a:rPr>
              <a:t>Payment gateway down during peak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4747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444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Social Engineering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Manipulating people to bypass security controls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Exploits trust, urgency, and authority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VoltPay risk: </a:t>
            </a:r>
            <a:r>
              <a:rPr sz="1300">
                <a:solidFill>
                  <a:srgbClr val="B0B0C0"/>
                </a:solidFill>
                <a:latin typeface="Calibri"/>
              </a:rPr>
              <a:t>Attacker calls helpdesk as 'Kevin from IT'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60720"/>
            <a:ext cx="5080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2320" y="5760720"/>
            <a:ext cx="1064768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Question: Which of these can technology alone prevent?  (Answer: None — humans are always a factor)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AI in Cybersecurity — A Two-Sided Arms 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32004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5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Attackers Use AI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AI-generated phishing (no more typos/grammar errors)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Deepfake voice calls impersonating executives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Automated vulnerability scanning at massive scale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AI-written malware that evades detection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Faster reconnaissance and target profiling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AI lowers the barrier — less skill needed to attack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120640" cy="32004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04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28A745"/>
                </a:solidFill>
                <a:latin typeface="Calibri"/>
              </a:defRPr>
            </a:pPr>
            <a:r>
              <a:t>Defenders Use AI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Anomaly detection in network traffic patterns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Log analysis across millions of events per day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Automated incident response playbooks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Threat intelligence correlation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AI coding assistants for secure development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AI amplifies — analysts handle 10x more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320" y="4754880"/>
            <a:ext cx="10647680" cy="9144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Today you'll use OpenCode — a free, open-source AI agent — as your security co-pilot.</a:t>
            </a:r>
            <a:br/>
            <a:r>
              <a:t>AI is a force multiplier, not a replacement for thinking.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Singapore Cyber Regulations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MAS TRM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Monetary Authority of Singapore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Technology Risk Management Guidelines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Applies to: Banks, payment institutions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Key areas: </a:t>
            </a:r>
            <a:r>
              <a:rPr sz="1300">
                <a:solidFill>
                  <a:srgbClr val="B0B0C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Board governance (§3)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Secure development (§6)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Access control (§9)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Data &amp; infra security (§11)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Cyber operations (§12)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Vulnerability management (§13)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PDPA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Personal Data Protection Act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Applies to: All organisations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collecting personal data in SG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Consent: </a:t>
            </a:r>
            <a:r>
              <a:rPr sz="1300">
                <a:solidFill>
                  <a:srgbClr val="B0B0C0"/>
                </a:solidFill>
                <a:latin typeface="Calibri"/>
              </a:rPr>
              <a:t>Purpose limitation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Breach: </a:t>
            </a:r>
            <a:r>
              <a:rPr sz="1300">
                <a:solidFill>
                  <a:srgbClr val="B0B0C0"/>
                </a:solidFill>
                <a:latin typeface="Calibri"/>
              </a:rPr>
              <a:t>Notify within 3 days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Fines: </a:t>
            </a:r>
            <a:r>
              <a:rPr sz="1300">
                <a:solidFill>
                  <a:srgbClr val="B0B0C0"/>
                </a:solidFill>
                <a:latin typeface="Calibri"/>
              </a:rPr>
              <a:t>Up to SGD 1M or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10% of annual turnover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VoltPay has 2,400 merchants'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personal + financial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5A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CSA Cyber Trust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Cyber Security Agency of SG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Voluntary certification mark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5 domains, 22 areas assessed: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Governance, protection,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detection, response, awareness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VoltPay need: </a:t>
            </a:r>
            <a:r>
              <a:rPr sz="1300">
                <a:solidFill>
                  <a:srgbClr val="B0B0C0"/>
                </a:solidFill>
                <a:latin typeface="Calibri"/>
              </a:rPr>
              <a:t>Required by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DBS for the partnership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(worth SGD 5–8M/year)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Cert valid for 3 years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508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2320" y="4846320"/>
            <a:ext cx="10647680" cy="7315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VoltPay must comply with all three — MAS TRM for payment licence, PDPA for merchant data, CSA for DBS deal.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66F1"/>
                </a:solidFill>
                <a:latin typeface="Calibri"/>
              </a:defRPr>
            </a:pPr>
            <a: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Scan, Discover &amp; Exploit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Calibri"/>
              </a:defRPr>
            </a:pPr>
            <a:r>
              <a:t>45 minutes  •  Hands-On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Attack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Security testing follows the same structured approach used by professional penetration testers: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1. Recon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Gather information</a:t>
            </a:r>
            <a:br/>
            <a:r>
              <a:t>about the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2. Scanning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Find open ports</a:t>
            </a:r>
            <a:br/>
            <a:r>
              <a:t>and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8288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3. Exploitation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Test vulnerabilities</a:t>
            </a:r>
            <a:br/>
            <a:r>
              <a:t>for real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8288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4. Post-Exploit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Determine what</a:t>
            </a:r>
            <a:br/>
            <a:r>
              <a:t>data is accessible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8288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5. Reporting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Document findings</a:t>
            </a:r>
            <a:br/>
            <a:r>
              <a:t>and recommend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Students Will Discover in the Lab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B0B0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818CF8"/>
                </a:solidFill>
                <a:latin typeface="Calibri"/>
              </a:rPr>
              <a:t>Port Scanning (nmap) — </a:t>
            </a:r>
            <a:r>
              <a:rPr sz="1500">
                <a:solidFill>
                  <a:srgbClr val="B0B0C0"/>
                </a:solidFill>
                <a:latin typeface="Calibri"/>
              </a:rPr>
              <a:t>Which services are running and exposed?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818CF8"/>
                </a:solidFill>
                <a:latin typeface="Calibri"/>
              </a:rPr>
              <a:t>Vulnerability Scanning (nikto) — </a:t>
            </a:r>
            <a:r>
              <a:rPr sz="1500">
                <a:solidFill>
                  <a:srgbClr val="B0B0C0"/>
                </a:solidFill>
                <a:latin typeface="Calibri"/>
              </a:rPr>
              <a:t>What security misconfigurations exist?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818CF8"/>
                </a:solidFill>
                <a:latin typeface="Calibri"/>
              </a:rPr>
              <a:t>SQL Injection — </a:t>
            </a:r>
            <a:r>
              <a:rPr sz="1500">
                <a:solidFill>
                  <a:srgbClr val="B0B0C0"/>
                </a:solidFill>
                <a:latin typeface="Calibri"/>
              </a:rPr>
              <a:t>Can we extract data from the database?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818CF8"/>
                </a:solidFill>
                <a:latin typeface="Calibri"/>
              </a:rPr>
              <a:t>Cross-Site Scripting (XSS) — </a:t>
            </a:r>
            <a:r>
              <a:rPr sz="1500">
                <a:solidFill>
                  <a:srgbClr val="B0B0C0"/>
                </a:solidFill>
                <a:latin typeface="Calibri"/>
              </a:rPr>
              <a:t>Can we run code in users' browsers?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818CF8"/>
                </a:solidFill>
                <a:latin typeface="Calibri"/>
              </a:rPr>
              <a:t>Broken Access Control (IDOR) — </a:t>
            </a:r>
            <a:r>
              <a:rPr sz="1500">
                <a:solidFill>
                  <a:srgbClr val="B0B0C0"/>
                </a:solidFill>
                <a:latin typeface="Calibri"/>
              </a:rPr>
              <a:t>Can we access other users' data?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818CF8"/>
                </a:solidFill>
                <a:latin typeface="Calibri"/>
              </a:rPr>
              <a:t>Default Credentials — </a:t>
            </a:r>
            <a:r>
              <a:rPr sz="1500">
                <a:solidFill>
                  <a:srgbClr val="B0B0C0"/>
                </a:solidFill>
                <a:latin typeface="Calibri"/>
              </a:rPr>
              <a:t>Are factory passwords still in use?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OWASP Top 10 (2021)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The industry-standard ranking of the most critical web application security risks: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0698480" cy="59436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13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A01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1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Broken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13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Users can act outside their intended permissions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813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3545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3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A02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53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Cryptographic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53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Sensitive data exposed due to weak/missing encryption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453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C107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10698480" cy="59436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93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A03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93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93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Untrusted data sent to an interpreter (SQL, XSS, etc.)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093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3545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3379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A05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3379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Security Misconfiguration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337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Insecure defaults, missing headers, verbose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73379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73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A07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373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 Failures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373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Weak passwords, credential stuffing, no rate limiting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373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C107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13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A08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013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Software Integrity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013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Code/data modified without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013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669280"/>
            <a:ext cx="5080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2320" y="5669280"/>
            <a:ext cx="1064768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Students will discover vulnerabilities mapped to A01, A03, A05, and A07 in the lab.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What Stolen Data Is Worth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On the dark web, FinTech data commands premium prices: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Data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Dark Web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Credit card + CVV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USD 5–35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Calibri"/>
              </a:defRPr>
            </a:pPr>
            <a:r>
              <a:t>Singapore cards at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Bank login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USD 50–200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Calibri"/>
              </a:defRPr>
            </a:pPr>
            <a:r>
              <a:t>Higher for SG banks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Full identity package (Fullz)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USD 30–100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71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Calibri"/>
              </a:defRPr>
            </a:pPr>
            <a:r>
              <a:t>Name, IC, address, DOB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Corporate database dump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USD 1,000–10,000+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Calibri"/>
              </a:defRPr>
            </a:pPr>
            <a:r>
              <a:t>VoltPay = 2,400 merchants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5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VoltPay Breach Impact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MAS: </a:t>
            </a:r>
            <a:r>
              <a:rPr sz="1300">
                <a:solidFill>
                  <a:srgbClr val="B0B0C0"/>
                </a:solidFill>
                <a:latin typeface="Calibri"/>
              </a:rPr>
              <a:t>Fines, licence conditions, possible revocation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PDPA: </a:t>
            </a:r>
            <a:r>
              <a:rPr sz="1300">
                <a:solidFill>
                  <a:srgbClr val="B0B0C0"/>
                </a:solidFill>
                <a:latin typeface="Calibri"/>
              </a:rPr>
              <a:t>Fines up to SGD 1M (10% of annual turnover)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Business: </a:t>
            </a:r>
            <a:r>
              <a:rPr sz="1300">
                <a:solidFill>
                  <a:srgbClr val="B0B0C0"/>
                </a:solidFill>
                <a:latin typeface="Calibri"/>
              </a:rPr>
              <a:t>2,400 merchants lose trust → revenue collapse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Partnership: </a:t>
            </a:r>
            <a:r>
              <a:rPr sz="1300">
                <a:solidFill>
                  <a:srgbClr val="B0B0C0"/>
                </a:solidFill>
                <a:latin typeface="Calibri"/>
              </a:rPr>
              <a:t>DBS deal (SGD 5–8M/year) cancelled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Legal: </a:t>
            </a:r>
            <a:r>
              <a:rPr sz="1300">
                <a:solidFill>
                  <a:srgbClr val="B0B0C0"/>
                </a:solidFill>
                <a:latin typeface="Calibri"/>
              </a:rPr>
              <a:t>Breach notification costs, potential lawsuits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Singapore data commands premium due to higher account balances and purchasing power.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66F1"/>
                </a:solidFill>
                <a:latin typeface="Calibri"/>
              </a:defRPr>
            </a:pPr>
            <a:r>
              <a:t>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Incident Response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Calibri"/>
              </a:defRPr>
            </a:pPr>
            <a:r>
              <a:t>30 minutes  •  SIEM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NIST Incident Response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ctr">
              <a:defRPr sz="1500" b="1">
                <a:solidFill>
                  <a:srgbClr val="28A745"/>
                </a:solidFill>
                <a:latin typeface="Calibri"/>
              </a:defRPr>
            </a:pPr>
            <a:r>
              <a:t>1. Preparation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Tools, people, processes ready</a:t>
            </a:r>
            <a:br/>
            <a:r>
              <a:t>before an incident occurs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801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ctr">
              <a:defRPr sz="1500" b="1">
                <a:solidFill>
                  <a:srgbClr val="818CF8"/>
                </a:solidFill>
                <a:latin typeface="Calibri"/>
              </a:defRPr>
            </a:pPr>
            <a:r>
              <a:t>2. Detection</a:t>
            </a:r>
            <a:br/>
            <a:r>
              <a:t>&amp; Analysis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Identify and investigate</a:t>
            </a:r>
            <a:br/>
            <a:r>
              <a:t>the security 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ctr">
              <a:defRPr sz="1500" b="1">
                <a:solidFill>
                  <a:srgbClr val="FFC107"/>
                </a:solidFill>
                <a:latin typeface="Calibri"/>
              </a:defRPr>
            </a:pPr>
            <a:r>
              <a:t>3. Containment</a:t>
            </a:r>
            <a:br/>
            <a:r>
              <a:t>&amp; Eradication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Stop the attack, remove</a:t>
            </a:r>
            <a:br/>
            <a:r>
              <a:t>attacker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2801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ctr">
              <a:defRPr sz="1500" b="1">
                <a:solidFill>
                  <a:srgbClr val="DC3545"/>
                </a:solidFill>
                <a:latin typeface="Calibri"/>
              </a:defRPr>
            </a:pPr>
            <a:r>
              <a:t>4. Post-Incident</a:t>
            </a:r>
            <a:br/>
            <a:r>
              <a:t>Activity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Document, report, improve</a:t>
            </a:r>
            <a:br/>
            <a:r>
              <a:t>defenses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is a SIEM?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B0B0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Security Information and Event Management — the command center of any SOC.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Collects logs from every system, normalizes them, and enables search + correlation.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B0B0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Our SIEM Stack: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  Elasticsearch — stores and searches 10,000+ log entries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  Kibana — visualizes and explores data across 5 log indices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  Log sources: Authentication, Firewall, DNS, Process (Sysmon), Web requests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Brute Force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In the lab, students investigate a brute force attack embedded in 10,000 log entries: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Step 1: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373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Count auth successes vs failures — massive ratio of failures = something is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Step 2: Top Offenders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402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Aggregate by source IP — one IP has hundreds of failed attempts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Step 3: Identify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Which usernames were targeted? Is this credential stuffing or a targeted attack?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Step 4: Check 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46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Did the attacker eventually get in? Search for successful login from attacker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Step 5: Cross-Reference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490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Check firewall + DNS logs for the same IP — what else did they do post-compromise?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51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Step 6: AI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519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Build attack timeline, extract IOCs, map to MITRE ATT&amp;CK T1110 (Brute Force)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2320" y="5029200"/>
            <a:ext cx="10647680" cy="9144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Key skill: CORRELATION — looking at the same event from multiple data sources.</a:t>
            </a:r>
            <a:br/>
            <a:r>
              <a:t>The value of a SIEM is connecting the dots that no single log source can show you.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Incident Response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Students draft a professional IR report with AI assistance: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Report Structure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1. Executive Summary — </a:t>
            </a:r>
            <a:r>
              <a:rPr sz="1300">
                <a:solidFill>
                  <a:srgbClr val="B0B0C0"/>
                </a:solidFill>
                <a:latin typeface="Calibri"/>
              </a:rPr>
              <a:t>3 sentences for the CEO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2. Timeline — </a:t>
            </a:r>
            <a:r>
              <a:rPr sz="1300">
                <a:solidFill>
                  <a:srgbClr val="B0B0C0"/>
                </a:solidFill>
                <a:latin typeface="Calibri"/>
              </a:rPr>
              <a:t>Chronological attack events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3. IOCs — </a:t>
            </a:r>
            <a:r>
              <a:rPr sz="1300">
                <a:solidFill>
                  <a:srgbClr val="B0B0C0"/>
                </a:solidFill>
                <a:latin typeface="Calibri"/>
              </a:rPr>
              <a:t>Attacker IP, usernames, timestamps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4. Root Cause — </a:t>
            </a:r>
            <a:r>
              <a:rPr sz="1300">
                <a:solidFill>
                  <a:srgbClr val="B0B0C0"/>
                </a:solidFill>
                <a:latin typeface="Calibri"/>
              </a:rPr>
              <a:t>Why the attack succeeded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5. Impact — </a:t>
            </a:r>
            <a:r>
              <a:rPr sz="1300">
                <a:solidFill>
                  <a:srgbClr val="B0B0C0"/>
                </a:solidFill>
                <a:latin typeface="Calibri"/>
              </a:rPr>
              <a:t>What was compromised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6. Recommendations — </a:t>
            </a:r>
            <a:r>
              <a:rPr sz="1300">
                <a:solidFill>
                  <a:srgbClr val="B0B0C0"/>
                </a:solidFill>
                <a:latin typeface="Calibri"/>
              </a:rPr>
              <a:t>Immediate + long-term fixes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7. Lessons Learned — </a:t>
            </a:r>
            <a:r>
              <a:rPr sz="1300">
                <a:solidFill>
                  <a:srgbClr val="B0B0C0"/>
                </a:solidFill>
                <a:latin typeface="Calibri"/>
              </a:rPr>
              <a:t>Prevent recurrence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Writing for the audience: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  Executive Summary → CEO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  IOCs → SOC team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  Recommendations → IT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IOCs to Extract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Attacker IP address(es)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Targeted usernames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Successful compromise timestamp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Post-compromise network activity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MITRE ATT&amp;CK: T1110 (Brute Force)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Why this matters: </a:t>
            </a:r>
            <a:r>
              <a:rPr sz="1300">
                <a:solidFill>
                  <a:srgbClr val="B0B0C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IR reports are legal documents.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They may be submitted to MAS,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used in court proceedings, or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shared with law enforcement.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Accuracy and completeness matter.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66F1"/>
                </a:solidFill>
                <a:latin typeface="Calibri"/>
              </a:defRPr>
            </a:pPr>
            <a:r>
              <a:t>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Governance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Calibri"/>
              </a:defRPr>
            </a:pPr>
            <a:r>
              <a:t>25 minutes  •  Stakeholder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What is IT Governance?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Think of it like building codes for technology.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B0B0C0"/>
                </a:solidFill>
                <a:latin typeface="Calibri"/>
              </a:defRPr>
            </a:pPr>
            <a:r>
              <a:t>Just as HDB has safety requirements for buildings, MAS has security requirements for payment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MAS TRM — Key Sections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§3 </a:t>
            </a:r>
            <a:r>
              <a:rPr sz="1300">
                <a:solidFill>
                  <a:srgbClr val="B0B0C0"/>
                </a:solidFill>
                <a:latin typeface="Calibri"/>
              </a:rPr>
              <a:t>Board governance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§6 </a:t>
            </a:r>
            <a:r>
              <a:rPr sz="1300">
                <a:solidFill>
                  <a:srgbClr val="B0B0C0"/>
                </a:solidFill>
                <a:latin typeface="Calibri"/>
              </a:rPr>
              <a:t>Secure development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§9 </a:t>
            </a:r>
            <a:r>
              <a:rPr sz="1300">
                <a:solidFill>
                  <a:srgbClr val="B0B0C0"/>
                </a:solidFill>
                <a:latin typeface="Calibri"/>
              </a:rPr>
              <a:t>Access control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§11 </a:t>
            </a:r>
            <a:r>
              <a:rPr sz="1300">
                <a:solidFill>
                  <a:srgbClr val="B0B0C0"/>
                </a:solidFill>
                <a:latin typeface="Calibri"/>
              </a:rPr>
              <a:t>Data &amp; infrastructure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§12 </a:t>
            </a:r>
            <a:r>
              <a:rPr sz="1300">
                <a:solidFill>
                  <a:srgbClr val="B0B0C0"/>
                </a:solidFill>
                <a:latin typeface="Calibri"/>
              </a:rPr>
              <a:t>Cyber operations (SOC)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§13 </a:t>
            </a:r>
            <a:r>
              <a:rPr sz="1300">
                <a:solidFill>
                  <a:srgbClr val="B0B0C0"/>
                </a:solidFill>
                <a:latin typeface="Calibri"/>
              </a:rPr>
              <a:t>Vulnerability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Why It Matters for VoltPay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Major Payment Institution licence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MAS can impose conditions or revoke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Q2 2026 inspection approaching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PDPA fines up to SGD 1M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DBS requires Cyber Trust Mark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Insurance premiums based on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5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Not Just Checkbox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Governance = culture, not just paperwork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Good governance prevents incidents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Bad governance causes incidents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Example: </a:t>
            </a:r>
            <a:r>
              <a:rPr sz="1300">
                <a:solidFill>
                  <a:srgbClr val="B0B0C0"/>
                </a:solidFill>
                <a:latin typeface="Calibri"/>
              </a:rPr>
              <a:t>Kevin's checklist is in his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head — if he leaves, there is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no offboarding process.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Meet Kevin Tan — IT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Students interview Kevin (AI persona) to discover infrastructure gaps: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Kevin's Profile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34 years old, NTU Computer Engineering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5 years at Singtel NOC → VoltPay (2021)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Built entire IT infrastructure from scratch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1 junior sysadmin (6 months in)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Manages 85 endpoints + network + physical security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Speaks heavy Singlish, practical, resourceful,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frustrated by budget constraints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"Aiyoh, you think I don't know meh?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I raised this before but nobody listen..."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Interview Technique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Surface answers </a:t>
            </a:r>
            <a:r>
              <a:rPr sz="1300">
                <a:solidFill>
                  <a:srgbClr val="B0B0C0"/>
                </a:solidFill>
                <a:latin typeface="Calibri"/>
              </a:rPr>
              <a:t>sound fine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Dig deeper </a:t>
            </a:r>
            <a:r>
              <a:rPr sz="1300">
                <a:solidFill>
                  <a:srgbClr val="B0B0C0"/>
                </a:solidFill>
                <a:latin typeface="Calibri"/>
              </a:rPr>
              <a:t>to find real issues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Good follow-up questions: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  "When was that last reviewed?"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  "What happens when someone leaves?"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  "Who has access to the root account?"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Bad questions (get generic answers):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  "Tell me about your security"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  "Is everything secure?"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508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2320" y="4846320"/>
            <a:ext cx="10647680" cy="7315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This teaches a critical soft skill: getting the REAL answers from stakeholders. Same technique used by auditors, consultants, and GRC professionals.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Gap Analysis — What Kevin Reveals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090"/>
                </a:solidFill>
                <a:latin typeface="Calibri"/>
              </a:defRPr>
            </a:pPr>
            <a:r>
              <a:t>Instructor reference — surface answers vs. reality after probing: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Surface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9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Reality (After Probing)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59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9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Calibri"/>
              </a:defRPr>
            </a:pPr>
            <a:r>
              <a:t>85 machines, Intune, Defender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20574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12 Win10 EOL, 60/85 enrolled, 847 unreviewed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20574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§11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9" y="20574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3545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560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Calibri"/>
              </a:defRPr>
            </a:pPr>
            <a:r>
              <a:t>Separate guest/corp WiFi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2560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Same VLAN, AWS SSH open to 0.0.0.0/0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2560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§11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9" y="25603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3545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063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Offboarding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Calibri"/>
              </a:defRPr>
            </a:pPr>
            <a:r>
              <a:t>HR notifies, AD disabled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9" y="30632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Checklist in Kevin's head, ex-employees on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59" y="30632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§9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9" y="30632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566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Physical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566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Calibri"/>
              </a:defRPr>
            </a:pPr>
            <a:r>
              <a:t>Card access, locked server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199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Key duplicated 5x, no camera, no temp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3566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§11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199" y="35661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069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Passwords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069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Calibri"/>
              </a:defRPr>
            </a:pPr>
            <a:r>
              <a:t>Individual accounts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199" y="4069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AWS root in Google Doc, admin123 shared by all devs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59" y="4069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§9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9" y="4069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3545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12080"/>
            <a:ext cx="5080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2320" y="5212080"/>
            <a:ext cx="10647680" cy="6400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Students map each finding to MAS TRM sections and estimate business impact in SGD.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66F1"/>
                </a:solidFill>
                <a:latin typeface="Calibri"/>
              </a:defRPr>
            </a:pPr>
            <a: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Wrap-Up &amp;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Calibri"/>
              </a:defRPr>
            </a:pPr>
            <a:r>
              <a:t>20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AI — Strengths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04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28A745"/>
                </a:solidFill>
                <a:latin typeface="Calibri"/>
              </a:defRPr>
            </a:pPr>
            <a:r>
              <a:t>What AI Does Well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Explains complex concepts in plain language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Analyzes tool output quickly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Maps findings to frameworks (OWASP, MITRE)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Drafts reports and documentation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Suggests next investigative steps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Simulates personas for practice (Kevin!)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Helps write and review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5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Where AI Falls Short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Hallucination — </a:t>
            </a:r>
            <a:r>
              <a:rPr sz="1300">
                <a:solidFill>
                  <a:srgbClr val="B0B0C0"/>
                </a:solidFill>
                <a:latin typeface="Calibri"/>
              </a:rPr>
              <a:t>can fabricate facts confidently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No verification — </a:t>
            </a:r>
            <a:r>
              <a:rPr sz="1300">
                <a:solidFill>
                  <a:srgbClr val="B0B0C0"/>
                </a:solidFill>
                <a:latin typeface="Calibri"/>
              </a:rPr>
              <a:t>can't check if systems are patched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Over-confidence — </a:t>
            </a:r>
            <a:r>
              <a:rPr sz="1300">
                <a:solidFill>
                  <a:srgbClr val="B0B0C0"/>
                </a:solidFill>
                <a:latin typeface="Calibri"/>
              </a:rPr>
              <a:t>rarely says "I don't know"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Context limits — </a:t>
            </a:r>
            <a:r>
              <a:rPr sz="1300">
                <a:solidFill>
                  <a:srgbClr val="B0B0C0"/>
                </a:solidFill>
                <a:latin typeface="Calibri"/>
              </a:rPr>
              <a:t>loses track in long sessions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Lacks judgment — </a:t>
            </a:r>
            <a:r>
              <a:rPr sz="1300">
                <a:solidFill>
                  <a:srgbClr val="B0B0C0"/>
                </a:solidFill>
                <a:latin typeface="Calibri"/>
              </a:rPr>
              <a:t>can't weigh business trade-offs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No accountability — </a:t>
            </a:r>
            <a:r>
              <a:rPr sz="1300">
                <a:solidFill>
                  <a:srgbClr val="B0B0C0"/>
                </a:solidFill>
                <a:latin typeface="Calibri"/>
              </a:rPr>
              <a:t>you sign the report, not the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508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2320" y="4297680"/>
            <a:ext cx="10647680" cy="9144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AI is a force multiplier, not a replacement for thinking.</a:t>
            </a:r>
            <a:br/>
            <a:r>
              <a:t>The person using the AI is still responsible for the output.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Career Paths in Cybersecurity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204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Entry-Level Roles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SOC Analyst — </a:t>
            </a:r>
            <a:r>
              <a:rPr sz="1300">
                <a:solidFill>
                  <a:srgbClr val="B0B0C0"/>
                </a:solidFill>
                <a:latin typeface="Calibri"/>
              </a:rPr>
              <a:t>Monitor alerts,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investigate incidents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(Today's Module 03 skills)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GRC Analyst — </a:t>
            </a:r>
            <a:r>
              <a:rPr sz="1300">
                <a:solidFill>
                  <a:srgbClr val="B0B0C0"/>
                </a:solidFill>
                <a:latin typeface="Calibri"/>
              </a:rPr>
              <a:t>Compliance,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audits, risk assessment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(Today's Module 04 skills)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Security Engineer — </a:t>
            </a:r>
            <a:r>
              <a:rPr sz="1300">
                <a:solidFill>
                  <a:srgbClr val="B0B0C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Build and maintain defenses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Intermediate Roles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Penetration Tester — </a:t>
            </a:r>
            <a:r>
              <a:rPr sz="1300">
                <a:solidFill>
                  <a:srgbClr val="B0B0C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Authorized hacking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(Today's Module 02 skills)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Incident Responder — </a:t>
            </a:r>
            <a:r>
              <a:rPr sz="1300">
                <a:solidFill>
                  <a:srgbClr val="B0B0C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Forensics, malware analysis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Cloud Security — </a:t>
            </a:r>
            <a:r>
              <a:rPr sz="1300">
                <a:solidFill>
                  <a:srgbClr val="B0B0C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AWS/Azure/GCP hardening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Detection Engineer — </a:t>
            </a:r>
            <a:r>
              <a:rPr sz="1300">
                <a:solidFill>
                  <a:srgbClr val="B0B0C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Build SIEM rules and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383280" cy="347472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5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Certifications &amp; Resources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Entry: CompTIA Security+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Intermediate: CEH, CREST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Advanced: OSCP, CISSP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Singapore: </a:t>
            </a:r>
            <a:r>
              <a:rPr sz="1300">
                <a:solidFill>
                  <a:srgbClr val="B0B0C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CSA SG Cyber Talent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SG Cyber Youth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DSTA CTF competitions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NUS Greyhats</a:t>
            </a:r>
          </a:p>
          <a:p>
            <a:pPr>
              <a:spcBef>
                <a:spcPts val="300"/>
              </a:spcBef>
              <a:defRPr sz="1300">
                <a:solidFill>
                  <a:srgbClr val="B0B0C0"/>
                </a:solidFill>
                <a:latin typeface="Calibri"/>
              </a:defRPr>
            </a:pPr>
            <a:r>
              <a:t>  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818CF8"/>
                </a:solidFill>
                <a:latin typeface="Calibri"/>
              </a:rPr>
              <a:t>Practice: </a:t>
            </a:r>
            <a:r>
              <a:rPr sz="1300">
                <a:solidFill>
                  <a:srgbClr val="B0B0C0"/>
                </a:solidFill>
                <a:latin typeface="Calibri"/>
              </a:rPr>
              <a:t>TryHackMe, HackTheBox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Achievement Badges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Students earn badges by completing milestones in the lab: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First Blood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Find first vulnerability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SQL Sorcerer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Execute SQL 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Script Kiddie</a:t>
            </a:r>
            <a:br/>
            <a:r>
              <a:t>No More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Explain WHY XSS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Master Key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Access admin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Digital Detective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Investigate brute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931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Report Writer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Complete IR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Governance Guru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Find 3+ gaps from Kevin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931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2700">
            <a:solidFill>
              <a:srgbClr val="3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Full Stack</a:t>
            </a:r>
            <a:br/>
            <a:r>
              <a:t>Defender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808090"/>
                </a:solidFill>
                <a:latin typeface="Calibri"/>
              </a:defRPr>
            </a:pPr>
            <a:r>
              <a:t>Complete all 5 modules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4360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2320" y="5943600"/>
            <a:ext cx="10647680" cy="4572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1–3 badges = Great start   •   4–5 = Strong foundation   •   6–8 = Outstanding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Calibri"/>
              </a:defRPr>
            </a:pPr>
            <a:r>
              <a:t>You're now a cybersecurity defender.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0"/>
                </a:solidFill>
                <a:latin typeface="Calibri"/>
              </a:defRPr>
            </a:pPr>
            <a:r>
              <a:t>terraxinyun.com  •  josh@terraxinyun.com</a:t>
            </a:r>
            <a:br/>
            <a:br/>
            <a:r>
              <a:t>Intro to Cybersecurity &amp; AI for FinTech  •  OpenCode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366F1"/>
                </a:solidFill>
                <a:latin typeface="Calibri"/>
              </a:rPr>
              <a:t>Terra</a:t>
            </a:r>
            <a:r>
              <a:rPr sz="1200" b="1">
                <a:solidFill>
                  <a:srgbClr val="FFFFFF"/>
                </a:solidFill>
                <a:latin typeface="Calibri"/>
              </a:rPr>
              <a:t>新云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